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88900" cy="219456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F5D8A"/>
                </a:solidFill>
                <a:latin typeface="Meiryo"/>
              </a:rPr>
              <a:t>業界別 提案資料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22282E"/>
                </a:solidFill>
                <a:latin typeface="Meiryo"/>
              </a:rPr>
              <a:t>「出られなかった電話」を、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22282E"/>
                </a:solidFill>
                <a:latin typeface="Meiryo"/>
              </a:rPr>
              <a:t>助成金で無くす。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29768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F6B73"/>
                </a:solidFill>
                <a:latin typeface="Meiryo"/>
              </a:rPr>
              <a:t>オタスケAI Smart Call（AI電話受付）は、働き方改革推進支援助成金の対象になり得ます。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F6B73"/>
                </a:solidFill>
                <a:latin typeface="Meiryo"/>
              </a:rPr>
              <a:t>導入費用の目安180万円に対し、要件を満たせば助成の目安は約140万円。実質負担 約40万円。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F5D8A"/>
                </a:solidFill>
                <a:latin typeface="Meiryo"/>
              </a:rPr>
              <a:t>歯科医院 ／ サロン ／ 整体・接骨院 ／ 飲食 ／ 葬儀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14300" cy="5029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2282E"/>
                </a:solidFill>
                <a:latin typeface="Meiryo"/>
              </a:rPr>
              <a:t>資金スキーム（5業種共通）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F6B73"/>
                </a:solidFill>
                <a:latin typeface="Meiryo"/>
              </a:rPr>
              <a:t>使う制度：働き方改革推進支援助成金〔労働時間短縮・年休促進支援コース〕。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F6B73"/>
                </a:solidFill>
                <a:latin typeface="Meiryo"/>
              </a:rPr>
              <a:t>電話対応のAI化を「労働時間短縮の取組」と位置づけ、設備導入費を助成対象にします。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05740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2199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導入費用（目安）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2282E"/>
                </a:solidFill>
                <a:latin typeface="Meiryo"/>
              </a:rPr>
              <a:t>180万円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57400"/>
            <a:ext cx="38404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F6B73"/>
                </a:solidFill>
                <a:latin typeface="Meiryo"/>
              </a:rPr>
              <a:t>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7328" y="205740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22199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補助率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5146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2282E"/>
                </a:solidFill>
                <a:latin typeface="Meiryo"/>
              </a:rPr>
              <a:t>3/4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2057400"/>
            <a:ext cx="38404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F6B73"/>
                </a:solidFill>
                <a:latin typeface="Meiryo"/>
              </a:rPr>
              <a:t>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3096" y="205740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22199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助成金（目安）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5146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7A52"/>
                </a:solidFill>
                <a:latin typeface="Meiryo"/>
              </a:rPr>
              <a:t>約140万円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2057400"/>
            <a:ext cx="38404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F6B73"/>
                </a:solidFill>
                <a:latin typeface="Meiry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4" y="205740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222199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実質負担（目安）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25146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F5D8A"/>
                </a:solidFill>
                <a:latin typeface="Meiryo"/>
              </a:rPr>
              <a:t>約40万円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5D8A"/>
                </a:solidFill>
                <a:latin typeface="Meiryo"/>
              </a:rPr>
              <a:t>● </a:t>
            </a:r>
            <a:r>
              <a:rPr sz="1350" b="1">
                <a:solidFill>
                  <a:srgbClr val="22282E"/>
                </a:solidFill>
                <a:latin typeface="Meiryo"/>
              </a:rPr>
              <a:t>補助率は3/4。</a:t>
            </a:r>
            <a:r>
              <a:rPr sz="1350" b="0">
                <a:solidFill>
                  <a:srgbClr val="22282E"/>
                </a:solidFill>
                <a:latin typeface="Meiryo"/>
              </a:rPr>
              <a:t>従業員30人以下で一定要件を満たすと4/5になる場合があります。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7024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5D8A"/>
                </a:solidFill>
                <a:latin typeface="Meiryo"/>
              </a:rPr>
              <a:t>● </a:t>
            </a:r>
            <a:r>
              <a:rPr sz="1350" b="1">
                <a:solidFill>
                  <a:srgbClr val="22282E"/>
                </a:solidFill>
                <a:latin typeface="Meiryo"/>
              </a:rPr>
              <a:t>賃上げ加算がカギ。</a:t>
            </a:r>
            <a:r>
              <a:rPr sz="1350" b="0">
                <a:solidFill>
                  <a:srgbClr val="22282E"/>
                </a:solidFill>
                <a:latin typeface="Meiryo"/>
              </a:rPr>
              <a:t>対象労働者1名を7%以上賃上げする成果目標を加えると上限額が加算（従業員10人未満は2.5倍、10〜30人は2倍）。180万円の3/4＝135万円が上限内に収まります。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05663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F5D8A"/>
                </a:solidFill>
                <a:latin typeface="Meiryo"/>
              </a:rPr>
              <a:t>● </a:t>
            </a:r>
            <a:r>
              <a:rPr sz="1350" b="1">
                <a:solidFill>
                  <a:srgbClr val="22282E"/>
                </a:solidFill>
                <a:latin typeface="Meiryo"/>
              </a:rPr>
              <a:t>賃上げ対象者は雇用保険の被保険者であること。</a:t>
            </a:r>
            <a:r>
              <a:rPr sz="1350" b="0">
                <a:solidFill>
                  <a:srgbClr val="22282E"/>
                </a:solidFill>
                <a:latin typeface="Meiryo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5669280"/>
            <a:ext cx="10104120" cy="914400"/>
          </a:xfrm>
          <a:prstGeom prst="roundRect">
            <a:avLst>
              <a:gd name="adj" fmla="val 6000"/>
            </a:avLst>
          </a:prstGeom>
          <a:solidFill>
            <a:srgbClr val="F6EFDA"/>
          </a:solidFill>
          <a:ln w="12700">
            <a:solidFill>
              <a:srgbClr val="D3B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779008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A5C12"/>
                </a:solidFill>
                <a:latin typeface="Meiryo"/>
              </a:rPr>
              <a:t>⚠ 金額はすべて概算の目安です。必ず最新の公募要領で要件・金額・受付期間を確認してください。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A5C12"/>
                </a:solidFill>
                <a:latin typeface="Meiryo"/>
              </a:rPr>
              <a:t>導入・賃上げは交付決定“後”に実施（事前着手・事後申請は対象外）。賃上げは就業規則等で実際に実施が必要。事業場規模でコース・加算率・上限が変わります。受給を保証するものではありません。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  <a:latin typeface="Meiryo"/>
              </a:rPr>
              <a:t>歯科医院向け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2282E"/>
                </a:solidFill>
                <a:latin typeface="Meiryo"/>
              </a:rPr>
              <a:t>予約の電話が、診療の手を止めていませんか。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F6B73"/>
                </a:solidFill>
                <a:latin typeface="Meiryo"/>
              </a:rPr>
              <a:t>ユニットが埋まる時間帯ほど電話が鳴る。受付も衛生士も、予約対応のたびに手が止まります。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F6B73"/>
                </a:solidFill>
                <a:latin typeface="Meiryo"/>
              </a:rPr>
              <a:t>現場の困りごと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78024"/>
            <a:ext cx="5257800" cy="15240"/>
          </a:xfrm>
          <a:prstGeom prst="rect">
            <a:avLst/>
          </a:prstGeom>
          <a:solidFill>
            <a:srgbClr val="D9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施術中に受付が電話対応で中断し、患者さんを待たせる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72968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昼休み・診療後に予約変更やキャンセルの留守電が溜まる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39896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急患・キャンセル連絡を取りこぼし、空いた枠が埋まらない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F6B73"/>
                </a:solidFill>
                <a:latin typeface="Meiryo"/>
              </a:rPr>
              <a:t>Smart Call が変えること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478024"/>
            <a:ext cx="5257800" cy="15240"/>
          </a:xfrm>
          <a:prstGeom prst="rect">
            <a:avLst/>
          </a:prstGeom>
          <a:solidFill>
            <a:srgbClr val="D9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予約・変更・キャンセルをAIが24時間一次受付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72968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予約システムと自動連携（連携方式は特許）で二重予約を防止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739896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診療時間中に鳴る電話を限りなくゼロへ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F766E"/>
                </a:solidFill>
                <a:latin typeface="Meiryo"/>
              </a:rPr>
              <a:t>約60分/日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受付1名の電話対応を削減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F766E"/>
                </a:solidFill>
                <a:latin typeface="Meiryo"/>
              </a:rPr>
              <a:t>夜間・休診日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も予約を自動獲得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F766E"/>
                </a:solidFill>
                <a:latin typeface="Meiryo"/>
              </a:rPr>
              <a:t>取りこぼし0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キャンセル枠を即再販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4924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導入費用（目安）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82E"/>
                </a:solidFill>
                <a:latin typeface="Meiryo"/>
              </a:rPr>
              <a:t>180万円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189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助成金（目安）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189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766E"/>
                </a:solidFill>
                <a:latin typeface="Meiryo"/>
              </a:rPr>
              <a:t>約140万円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222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実質負担（目安）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222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766E"/>
                </a:solidFill>
                <a:latin typeface="Meiryo"/>
              </a:rPr>
              <a:t>約40万円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255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賃上げ要件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255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82E"/>
                </a:solidFill>
                <a:latin typeface="Meiryo"/>
              </a:rPr>
              <a:t>対象1名 7%〜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236208"/>
            <a:ext cx="6350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6217920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F766E"/>
                </a:solidFill>
                <a:latin typeface="Meiryo"/>
              </a:rPr>
              <a:t>商談での一言　</a:t>
            </a:r>
            <a:r>
              <a:rPr sz="1250" b="1">
                <a:solidFill>
                  <a:srgbClr val="22282E"/>
                </a:solidFill>
                <a:latin typeface="Meiryo"/>
              </a:rPr>
              <a:t>「衛生士さんが電話のたびに手を止める状態を、まず無くしましょう。空いたキャンセル枠も自動で埋められます。」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83F60"/>
                </a:solidFill>
                <a:latin typeface="Meiryo"/>
              </a:rPr>
              <a:t>美容室・ネイル・エステ向け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2282E"/>
                </a:solidFill>
                <a:latin typeface="Meiryo"/>
              </a:rPr>
              <a:t>施術中は手が離せない。その間の電話、全部取れていますか。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F6B73"/>
                </a:solidFill>
                <a:latin typeface="Meiryo"/>
              </a:rPr>
              <a:t>カラーもネイルも、手を止められない時間に限って新規の電話が鳴ります。一人サロンなら、なおさら。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F6B73"/>
                </a:solidFill>
                <a:latin typeface="Meiryo"/>
              </a:rPr>
              <a:t>現場の困りごと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78024"/>
            <a:ext cx="5257800" cy="15240"/>
          </a:xfrm>
          <a:prstGeom prst="rect">
            <a:avLst/>
          </a:prstGeom>
          <a:solidFill>
            <a:srgbClr val="D9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カット・カラー中に電話へ出られず、新規のお客様を逃す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72968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一人サロンは電話に出た瞬間、目の前の施術が止まる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39896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営業時間外の予約希望を、翌日わざわざ折り返している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F6B73"/>
                </a:solidFill>
                <a:latin typeface="Meiryo"/>
              </a:rPr>
              <a:t>Smart Call が変えること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478024"/>
            <a:ext cx="5257800" cy="15240"/>
          </a:xfrm>
          <a:prstGeom prst="rect">
            <a:avLst/>
          </a:prstGeom>
          <a:solidFill>
            <a:srgbClr val="D9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83F60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施術中もAIが予約対応。指名・メニュー・希望時間をヒアリング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72968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83F60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そのまま予約枠へ登録。折り返しの電話がなくなる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739896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83F60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SNS経由の夜間問い合わせも取りこぼさない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A83F60"/>
                </a:solidFill>
                <a:latin typeface="Meiryo"/>
              </a:rPr>
              <a:t>新規予約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の取りこぼしを回収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A83F60"/>
                </a:solidFill>
                <a:latin typeface="Meiryo"/>
              </a:rPr>
              <a:t>折返し0件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翌日の電話がけを廃止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A83F60"/>
                </a:solidFill>
                <a:latin typeface="Meiryo"/>
              </a:rPr>
              <a:t>24時間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予約を受付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4924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83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導入費用（目安）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82E"/>
                </a:solidFill>
                <a:latin typeface="Meiryo"/>
              </a:rPr>
              <a:t>180万円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189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助成金（目安）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189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A83F60"/>
                </a:solidFill>
                <a:latin typeface="Meiryo"/>
              </a:rPr>
              <a:t>約140万円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222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実質負担（目安）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222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A83F60"/>
                </a:solidFill>
                <a:latin typeface="Meiryo"/>
              </a:rPr>
              <a:t>約40万円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255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賃上げ要件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255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82E"/>
                </a:solidFill>
                <a:latin typeface="Meiryo"/>
              </a:rPr>
              <a:t>対象1名 7%〜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236208"/>
            <a:ext cx="63500" cy="384048"/>
          </a:xfrm>
          <a:prstGeom prst="rect">
            <a:avLst/>
          </a:prstGeom>
          <a:solidFill>
            <a:srgbClr val="A8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6217920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A83F60"/>
                </a:solidFill>
                <a:latin typeface="Meiryo"/>
              </a:rPr>
              <a:t>商談での一言　</a:t>
            </a:r>
            <a:r>
              <a:rPr sz="1250" b="1">
                <a:solidFill>
                  <a:srgbClr val="22282E"/>
                </a:solidFill>
                <a:latin typeface="Meiryo"/>
              </a:rPr>
              <a:t>「“出られなかった電話”が毎月何件あるか、一度数えてみませんか。その多くが新規のお客様です。」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6733A"/>
                </a:solidFill>
                <a:latin typeface="Meiryo"/>
              </a:rPr>
              <a:t>整体・接骨院向け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2282E"/>
                </a:solidFill>
                <a:latin typeface="Meiryo"/>
              </a:rPr>
              <a:t>一人施術のあいだ、電話は誰が取っていますか。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F6B73"/>
                </a:solidFill>
                <a:latin typeface="Meiryo"/>
              </a:rPr>
              <a:t>施術中は完全に電話が取れない。その一本が、そのまま競合の予約になっています。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F6B73"/>
                </a:solidFill>
                <a:latin typeface="Meiryo"/>
              </a:rPr>
              <a:t>現場の困りごと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78024"/>
            <a:ext cx="5257800" cy="15240"/>
          </a:xfrm>
          <a:prstGeom prst="rect">
            <a:avLst/>
          </a:prstGeom>
          <a:solidFill>
            <a:srgbClr val="D9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施術中は電話に出られず、新患が近隣の他院へ流れる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72968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予約の電話と保険の問い合わせが混在して手間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39896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受付を雇うほどの人件費の余裕はない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F6B73"/>
                </a:solidFill>
                <a:latin typeface="Meiryo"/>
              </a:rPr>
              <a:t>Smart Call が変えること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478024"/>
            <a:ext cx="5257800" cy="15240"/>
          </a:xfrm>
          <a:prstGeom prst="rect">
            <a:avLst/>
          </a:prstGeom>
          <a:solidFill>
            <a:srgbClr val="D9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6733A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施術中の電話をAIが受け、症状・希望日時をヒアリングして予約化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72968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6733A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定型の問い合わせはAIが一次対応、必要なものだけ折り返し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739896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6733A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受付人件費をかけずに機会損失を止める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46733A"/>
                </a:solidFill>
                <a:latin typeface="Meiryo"/>
              </a:rPr>
              <a:t>取りこぼし0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施術中の新患を予約化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46733A"/>
                </a:solidFill>
                <a:latin typeface="Meiryo"/>
              </a:rPr>
              <a:t>採用コスト0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受付を雇わず一次受付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46733A"/>
                </a:solidFill>
                <a:latin typeface="Meiryo"/>
              </a:rPr>
              <a:t>月々の負担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受付1名の給与より軽い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4924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67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導入費用（目安）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82E"/>
                </a:solidFill>
                <a:latin typeface="Meiryo"/>
              </a:rPr>
              <a:t>180万円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189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助成金（目安）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189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46733A"/>
                </a:solidFill>
                <a:latin typeface="Meiryo"/>
              </a:rPr>
              <a:t>約140万円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222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実質負担（目安）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222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46733A"/>
                </a:solidFill>
                <a:latin typeface="Meiryo"/>
              </a:rPr>
              <a:t>約40万円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255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賃上げ要件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255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82E"/>
                </a:solidFill>
                <a:latin typeface="Meiryo"/>
              </a:rPr>
              <a:t>対象1名 7%〜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236208"/>
            <a:ext cx="63500" cy="384048"/>
          </a:xfrm>
          <a:prstGeom prst="rect">
            <a:avLst/>
          </a:prstGeom>
          <a:solidFill>
            <a:srgbClr val="46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6217920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46733A"/>
                </a:solidFill>
                <a:latin typeface="Meiryo"/>
              </a:rPr>
              <a:t>商談での一言　</a:t>
            </a:r>
            <a:r>
              <a:rPr sz="1250" b="1">
                <a:solidFill>
                  <a:srgbClr val="22282E"/>
                </a:solidFill>
                <a:latin typeface="Meiryo"/>
              </a:rPr>
              <a:t>「受付を一人雇う代わりに、AIに一次受付をさせるイメージです。人件費より安く、24時間動きます。」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25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2591E"/>
                </a:solidFill>
                <a:latin typeface="Meiryo"/>
              </a:rPr>
              <a:t>飲食店向け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2282E"/>
                </a:solidFill>
                <a:latin typeface="Meiryo"/>
              </a:rPr>
              <a:t>仕込みとピーク中に鳴る予約電話、取り切れていますか。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F6B73"/>
                </a:solidFill>
                <a:latin typeface="Meiryo"/>
              </a:rPr>
              <a:t>忙しい時間ほど電話が鳴る——その矛盾が、接客の中断と予約の取りこぼしを生みます。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F6B73"/>
                </a:solidFill>
                <a:latin typeface="Meiryo"/>
              </a:rPr>
              <a:t>現場の困りごと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78024"/>
            <a:ext cx="5257800" cy="15240"/>
          </a:xfrm>
          <a:prstGeom prst="rect">
            <a:avLst/>
          </a:prstGeom>
          <a:solidFill>
            <a:srgbClr val="D9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ピーク帯の予約電話で、接客や調理の手が止まる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72968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宴会・コース予約の人数やアレルギーの聞き取りに時間がかかる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39896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営業時間外・仕込み中の予約を取りこぼす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F6B73"/>
                </a:solidFill>
                <a:latin typeface="Meiryo"/>
              </a:rPr>
              <a:t>Smart Call が変えること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478024"/>
            <a:ext cx="5257800" cy="15240"/>
          </a:xfrm>
          <a:prstGeom prst="rect">
            <a:avLst/>
          </a:prstGeom>
          <a:solidFill>
            <a:srgbClr val="D9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2591E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予約・人数・コース・アレルギーをAIが正確に受付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72968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2591E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ピーク中の電話対応による中断をゼロに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739896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2591E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深夜・定休日も予約を獲得。無断キャンセルの前確認も自動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B2591E"/>
                </a:solidFill>
                <a:latin typeface="Meiryo"/>
              </a:rPr>
              <a:t>ホール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の電話対応時間を削減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B2591E"/>
                </a:solidFill>
                <a:latin typeface="Meiryo"/>
              </a:rPr>
              <a:t>予約回収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取りこぼしを取り戻す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B2591E"/>
                </a:solidFill>
                <a:latin typeface="Meiryo"/>
              </a:rPr>
              <a:t>24時間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定休日も予約受付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4924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25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導入費用（目安）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82E"/>
                </a:solidFill>
                <a:latin typeface="Meiryo"/>
              </a:rPr>
              <a:t>180万円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189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助成金（目安）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189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B2591E"/>
                </a:solidFill>
                <a:latin typeface="Meiryo"/>
              </a:rPr>
              <a:t>約140万円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222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実質負担（目安）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222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B2591E"/>
                </a:solidFill>
                <a:latin typeface="Meiryo"/>
              </a:rPr>
              <a:t>約40万円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255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賃上げ要件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255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82E"/>
                </a:solidFill>
                <a:latin typeface="Meiryo"/>
              </a:rPr>
              <a:t>対象1名 7%〜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236208"/>
            <a:ext cx="63500" cy="384048"/>
          </a:xfrm>
          <a:prstGeom prst="rect">
            <a:avLst/>
          </a:prstGeom>
          <a:solidFill>
            <a:srgbClr val="B25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6217920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2591E"/>
                </a:solidFill>
                <a:latin typeface="Meiryo"/>
              </a:rPr>
              <a:t>商談での一言　</a:t>
            </a:r>
            <a:r>
              <a:rPr sz="1250" b="1">
                <a:solidFill>
                  <a:srgbClr val="22282E"/>
                </a:solidFill>
                <a:latin typeface="Meiryo"/>
              </a:rPr>
              <a:t>「忙しい時間ほど電話が鳴る。その矛盾をAIで解きます。宴会予約の聞き漏らしも無くせます。」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C4A63"/>
                </a:solidFill>
                <a:latin typeface="Meiryo"/>
              </a:rPr>
              <a:t>葬儀社向け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22282E"/>
                </a:solidFill>
                <a:latin typeface="Meiryo"/>
              </a:rPr>
              <a:t>深夜の一報を、待たせず・慌てさせず受けられていますか。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F6B73"/>
                </a:solidFill>
                <a:latin typeface="Meiryo"/>
              </a:rPr>
              <a:t>最初の一本に必ず出られる体制は信頼の要。ただ、24時間の当番は現場の大きな負担です。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F6B73"/>
                </a:solidFill>
                <a:latin typeface="Meiryo"/>
              </a:rPr>
              <a:t>現場の困りごと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78024"/>
            <a:ext cx="5257800" cy="15240"/>
          </a:xfrm>
          <a:prstGeom prst="rect">
            <a:avLst/>
          </a:prstGeom>
          <a:solidFill>
            <a:srgbClr val="D9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24時間365日の一次対応が、当番・人件費として重くのしかかる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72968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深夜の一報に出遅れると、ご遺族は次の葬儀社へ連絡してしまう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39896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662A"/>
                </a:solidFill>
                <a:latin typeface="Meiryo"/>
              </a:rPr>
              <a:t>！ </a:t>
            </a:r>
            <a:r>
              <a:rPr sz="1350" b="0">
                <a:solidFill>
                  <a:srgbClr val="22282E"/>
                </a:solidFill>
                <a:latin typeface="Meiryo"/>
              </a:rPr>
              <a:t>ご遺族の不安な問い合わせに、一貫した一次対応が求められる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5F6B73"/>
                </a:solidFill>
                <a:latin typeface="Meiryo"/>
              </a:rPr>
              <a:t>Smart Call が変えること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478024"/>
            <a:ext cx="5257800" cy="15240"/>
          </a:xfrm>
          <a:prstGeom prst="rect">
            <a:avLst/>
          </a:prstGeom>
          <a:solidFill>
            <a:srgbClr val="D9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C4A63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AIが24時間の一次受付を担い、担当者へ即エスカレーション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72968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C4A63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費用・流れ・対応エリアの定型案内を落ち着いた口調で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739896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C4A63"/>
                </a:solidFill>
                <a:latin typeface="Meiryo"/>
              </a:rPr>
              <a:t>✓ </a:t>
            </a:r>
            <a:r>
              <a:rPr sz="1350" b="0">
                <a:solidFill>
                  <a:srgbClr val="22282E"/>
                </a:solidFill>
                <a:latin typeface="Meiryo"/>
              </a:rPr>
              <a:t>当番の待機負担を軽減しつつ、取りこぼしをゼロに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3C4A63"/>
                </a:solidFill>
                <a:latin typeface="Meiryo"/>
              </a:rPr>
              <a:t>24時間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一次対応の取りこぼし0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3C4A63"/>
                </a:solidFill>
                <a:latin typeface="Meiryo"/>
              </a:rPr>
              <a:t>当番負担減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深夜待機の人件費を軽減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29768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 w="12700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441655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3C4A63"/>
                </a:solidFill>
                <a:latin typeface="Meiryo"/>
              </a:rPr>
              <a:t>即引継ぎ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担当へ確実にエスカレーション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4924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C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導入費用（目安）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82E"/>
                </a:solidFill>
                <a:latin typeface="Meiryo"/>
              </a:rPr>
              <a:t>180万円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189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助成金（目安）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189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C4A63"/>
                </a:solidFill>
                <a:latin typeface="Meiryo"/>
              </a:rPr>
              <a:t>約140万円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222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実質負担（目安）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222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C4A63"/>
                </a:solidFill>
                <a:latin typeface="Meiryo"/>
              </a:rPr>
              <a:t>約40万円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2550" y="5440680"/>
            <a:ext cx="236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F6B73"/>
                </a:solidFill>
                <a:latin typeface="Meiryo"/>
              </a:rPr>
              <a:t>賃上げ要件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2550" y="5678424"/>
            <a:ext cx="236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282E"/>
                </a:solidFill>
                <a:latin typeface="Meiryo"/>
              </a:rPr>
              <a:t>対象1名 7%〜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144768"/>
            <a:ext cx="63500" cy="384048"/>
          </a:xfrm>
          <a:prstGeom prst="rect">
            <a:avLst/>
          </a:prstGeom>
          <a:solidFill>
            <a:srgbClr val="3C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6126480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3C4A63"/>
                </a:solidFill>
                <a:latin typeface="Meiryo"/>
              </a:rPr>
              <a:t>商談での一言　</a:t>
            </a:r>
            <a:r>
              <a:rPr sz="1250" b="1">
                <a:solidFill>
                  <a:srgbClr val="22282E"/>
                </a:solidFill>
                <a:latin typeface="Meiryo"/>
              </a:rPr>
              <a:t>「“最初の電話”に必ず出られる体制を、人を増やさず作れます。AIは一次受付に徹し、大切な対応はすぐ担当へ繋ぎます。」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565392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F6B73"/>
                </a:solidFill>
                <a:latin typeface="Meiryo"/>
              </a:rPr>
              <a:t>※ご遺族対応の性質上、AIは「一次受付＋即時エスカレーション」に限定し、実対応は担当者が行う設計を推奨します。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